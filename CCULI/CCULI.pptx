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Dreaming Outloud Sans" panose="020B0604020202020204" charset="0"/>
      <p:regular r:id="rId4"/>
    </p:embeddedFont>
    <p:embeddedFont>
      <p:font typeface="Open Sans" panose="020B0606030504020204" pitchFamily="34" charset="0"/>
      <p:regular r:id="rId5"/>
    </p:embeddedFont>
    <p:embeddedFont>
      <p:font typeface="Open Sans Bold" panose="020B0806030504020204" charset="0"/>
      <p:regular r:id="rId6"/>
    </p:embeddedFont>
    <p:embeddedFont>
      <p:font typeface="Oswald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0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18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2515" y="1651346"/>
            <a:ext cx="3124305" cy="3454296"/>
          </a:xfrm>
          <a:custGeom>
            <a:avLst/>
            <a:gdLst/>
            <a:ahLst/>
            <a:cxnLst/>
            <a:rect l="l" t="t" r="r" b="b"/>
            <a:pathLst>
              <a:path w="3124305" h="3454296">
                <a:moveTo>
                  <a:pt x="0" y="0"/>
                </a:moveTo>
                <a:lnTo>
                  <a:pt x="3124305" y="0"/>
                </a:lnTo>
                <a:lnTo>
                  <a:pt x="3124305" y="3454296"/>
                </a:lnTo>
                <a:lnTo>
                  <a:pt x="0" y="3454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69" r="-15409" b="-7942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3780000" y="934854"/>
            <a:ext cx="4671780" cy="4671780"/>
          </a:xfrm>
          <a:custGeom>
            <a:avLst/>
            <a:gdLst/>
            <a:ahLst/>
            <a:cxnLst/>
            <a:rect l="l" t="t" r="r" b="b"/>
            <a:pathLst>
              <a:path w="4671780" h="4671780">
                <a:moveTo>
                  <a:pt x="0" y="0"/>
                </a:moveTo>
                <a:lnTo>
                  <a:pt x="4671780" y="0"/>
                </a:lnTo>
                <a:lnTo>
                  <a:pt x="4671780" y="4671780"/>
                </a:lnTo>
                <a:lnTo>
                  <a:pt x="0" y="4671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3963073" y="5310000"/>
            <a:ext cx="3343244" cy="3670173"/>
          </a:xfrm>
          <a:custGeom>
            <a:avLst/>
            <a:gdLst/>
            <a:ahLst/>
            <a:cxnLst/>
            <a:rect l="l" t="t" r="r" b="b"/>
            <a:pathLst>
              <a:path w="3343244" h="3670173">
                <a:moveTo>
                  <a:pt x="0" y="0"/>
                </a:moveTo>
                <a:lnTo>
                  <a:pt x="3343244" y="0"/>
                </a:lnTo>
                <a:lnTo>
                  <a:pt x="3343244" y="3670173"/>
                </a:lnTo>
                <a:lnTo>
                  <a:pt x="0" y="3670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92" b="-5538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727837" y="167888"/>
            <a:ext cx="1542480" cy="1519458"/>
          </a:xfrm>
          <a:custGeom>
            <a:avLst/>
            <a:gdLst/>
            <a:ahLst/>
            <a:cxnLst/>
            <a:rect l="l" t="t" r="r" b="b"/>
            <a:pathLst>
              <a:path w="1542480" h="1519458">
                <a:moveTo>
                  <a:pt x="0" y="0"/>
                </a:moveTo>
                <a:lnTo>
                  <a:pt x="1542480" y="0"/>
                </a:lnTo>
                <a:lnTo>
                  <a:pt x="1542480" y="1519458"/>
                </a:lnTo>
                <a:lnTo>
                  <a:pt x="0" y="1519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28" t="-258" r="-8210" b="-429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283110" y="225859"/>
            <a:ext cx="1366581" cy="1403515"/>
          </a:xfrm>
          <a:custGeom>
            <a:avLst/>
            <a:gdLst/>
            <a:ahLst/>
            <a:cxnLst/>
            <a:rect l="l" t="t" r="r" b="b"/>
            <a:pathLst>
              <a:path w="1366581" h="1403515">
                <a:moveTo>
                  <a:pt x="0" y="0"/>
                </a:moveTo>
                <a:lnTo>
                  <a:pt x="1366580" y="0"/>
                </a:lnTo>
                <a:lnTo>
                  <a:pt x="1366580" y="1403515"/>
                </a:lnTo>
                <a:lnTo>
                  <a:pt x="0" y="1403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529" t="-82388" r="-251183" b="-771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302515" y="9073323"/>
            <a:ext cx="5003614" cy="1434456"/>
            <a:chOff x="0" y="0"/>
            <a:chExt cx="1793182" cy="5140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3182" cy="514077"/>
            </a:xfrm>
            <a:custGeom>
              <a:avLst/>
              <a:gdLst/>
              <a:ahLst/>
              <a:cxnLst/>
              <a:rect l="l" t="t" r="r" b="b"/>
              <a:pathLst>
                <a:path w="1793182" h="514077">
                  <a:moveTo>
                    <a:pt x="57249" y="0"/>
                  </a:moveTo>
                  <a:lnTo>
                    <a:pt x="1735934" y="0"/>
                  </a:lnTo>
                  <a:cubicBezTo>
                    <a:pt x="1751117" y="0"/>
                    <a:pt x="1765678" y="6032"/>
                    <a:pt x="1776415" y="16768"/>
                  </a:cubicBezTo>
                  <a:cubicBezTo>
                    <a:pt x="1787151" y="27504"/>
                    <a:pt x="1793182" y="42065"/>
                    <a:pt x="1793182" y="57249"/>
                  </a:cubicBezTo>
                  <a:lnTo>
                    <a:pt x="1793182" y="456828"/>
                  </a:lnTo>
                  <a:cubicBezTo>
                    <a:pt x="1793182" y="472011"/>
                    <a:pt x="1787151" y="486573"/>
                    <a:pt x="1776415" y="497309"/>
                  </a:cubicBezTo>
                  <a:cubicBezTo>
                    <a:pt x="1765678" y="508045"/>
                    <a:pt x="1751117" y="514077"/>
                    <a:pt x="1735934" y="514077"/>
                  </a:cubicBezTo>
                  <a:lnTo>
                    <a:pt x="57249" y="514077"/>
                  </a:lnTo>
                  <a:cubicBezTo>
                    <a:pt x="42065" y="514077"/>
                    <a:pt x="27504" y="508045"/>
                    <a:pt x="16768" y="497309"/>
                  </a:cubicBezTo>
                  <a:cubicBezTo>
                    <a:pt x="6032" y="486573"/>
                    <a:pt x="0" y="472011"/>
                    <a:pt x="0" y="456828"/>
                  </a:cubicBezTo>
                  <a:lnTo>
                    <a:pt x="0" y="57249"/>
                  </a:lnTo>
                  <a:cubicBezTo>
                    <a:pt x="0" y="42065"/>
                    <a:pt x="6032" y="27504"/>
                    <a:pt x="16768" y="16768"/>
                  </a:cubicBezTo>
                  <a:cubicBezTo>
                    <a:pt x="27504" y="6032"/>
                    <a:pt x="42065" y="0"/>
                    <a:pt x="57249" y="0"/>
                  </a:cubicBezTo>
                  <a:close/>
                </a:path>
              </a:pathLst>
            </a:custGeom>
            <a:solidFill>
              <a:srgbClr val="E6BF8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93182" cy="552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-832348" y="5278986"/>
            <a:ext cx="4671780" cy="4671780"/>
          </a:xfrm>
          <a:custGeom>
            <a:avLst/>
            <a:gdLst/>
            <a:ahLst/>
            <a:cxnLst/>
            <a:rect l="l" t="t" r="r" b="b"/>
            <a:pathLst>
              <a:path w="4671780" h="4671780">
                <a:moveTo>
                  <a:pt x="4671780" y="0"/>
                </a:moveTo>
                <a:lnTo>
                  <a:pt x="0" y="0"/>
                </a:lnTo>
                <a:lnTo>
                  <a:pt x="0" y="4671780"/>
                </a:lnTo>
                <a:lnTo>
                  <a:pt x="4671780" y="4671780"/>
                </a:lnTo>
                <a:lnTo>
                  <a:pt x="4671780" y="0"/>
                </a:lnTo>
                <a:close/>
              </a:path>
            </a:pathLst>
          </a:custGeom>
          <a:blipFill>
            <a:blip r:embed="rId3">
              <a:alphaModFix amt="46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5306129" y="9311448"/>
            <a:ext cx="2019209" cy="915375"/>
          </a:xfrm>
          <a:custGeom>
            <a:avLst/>
            <a:gdLst/>
            <a:ahLst/>
            <a:cxnLst/>
            <a:rect l="l" t="t" r="r" b="b"/>
            <a:pathLst>
              <a:path w="2019209" h="915375">
                <a:moveTo>
                  <a:pt x="0" y="0"/>
                </a:moveTo>
                <a:lnTo>
                  <a:pt x="2019210" y="0"/>
                </a:lnTo>
                <a:lnTo>
                  <a:pt x="2019210" y="915375"/>
                </a:lnTo>
                <a:lnTo>
                  <a:pt x="0" y="915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83110" y="6435220"/>
            <a:ext cx="3619798" cy="24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78"/>
              </a:lnSpc>
              <a:spcBef>
                <a:spcPct val="0"/>
              </a:spcBef>
            </a:pPr>
            <a:endParaRPr/>
          </a:p>
          <a:p>
            <a:pPr algn="r">
              <a:lnSpc>
                <a:spcPts val="2178"/>
              </a:lnSpc>
              <a:spcBef>
                <a:spcPct val="0"/>
              </a:spcBef>
            </a:pPr>
            <a:r>
              <a:rPr lang="en-US" sz="1556" b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Atuação: 1984 a 2023</a:t>
            </a:r>
          </a:p>
          <a:p>
            <a:pPr algn="r">
              <a:lnSpc>
                <a:spcPts val="2178"/>
              </a:lnSpc>
              <a:spcBef>
                <a:spcPct val="0"/>
              </a:spcBef>
            </a:pPr>
            <a:endParaRPr lang="en-US" sz="1556" b="1">
              <a:solidFill>
                <a:srgbClr val="3613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r">
              <a:lnSpc>
                <a:spcPts val="2178"/>
              </a:lnSpc>
              <a:spcBef>
                <a:spcPct val="0"/>
              </a:spcBef>
            </a:pPr>
            <a:r>
              <a:rPr lang="en-US" sz="1556" b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Instituto Oswaldo Cruz - FIOCRUZ</a:t>
            </a:r>
          </a:p>
          <a:p>
            <a:pPr algn="r">
              <a:lnSpc>
                <a:spcPts val="2178"/>
              </a:lnSpc>
              <a:spcBef>
                <a:spcPct val="0"/>
              </a:spcBef>
            </a:pPr>
            <a:endParaRPr lang="en-US" sz="1556" b="1">
              <a:solidFill>
                <a:srgbClr val="3613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r">
              <a:lnSpc>
                <a:spcPts val="2178"/>
              </a:lnSpc>
              <a:spcBef>
                <a:spcPct val="0"/>
              </a:spcBef>
            </a:pPr>
            <a:r>
              <a:rPr lang="en-US" sz="1556" b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Pesquisadora em Saúde Pública</a:t>
            </a:r>
          </a:p>
          <a:p>
            <a:pPr algn="r">
              <a:lnSpc>
                <a:spcPts val="2178"/>
              </a:lnSpc>
              <a:spcBef>
                <a:spcPct val="0"/>
              </a:spcBef>
            </a:pPr>
            <a:r>
              <a:rPr lang="en-US" sz="1556" b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Especialista em Mosquitos</a:t>
            </a:r>
          </a:p>
          <a:p>
            <a:pPr algn="r">
              <a:lnSpc>
                <a:spcPts val="2178"/>
              </a:lnSpc>
              <a:spcBef>
                <a:spcPct val="0"/>
              </a:spcBef>
            </a:pPr>
            <a:endParaRPr lang="en-US" sz="1556" b="1">
              <a:solidFill>
                <a:srgbClr val="3613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r">
              <a:lnSpc>
                <a:spcPts val="2178"/>
              </a:lnSpc>
              <a:spcBef>
                <a:spcPct val="0"/>
              </a:spcBef>
            </a:pPr>
            <a:r>
              <a:rPr lang="en-US" sz="1556" b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Ex-Curadora da Coleção de Culicidae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08874" y="1603721"/>
            <a:ext cx="3761443" cy="158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Dra. Teresa Fernandes 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Silva do Nascimento</a:t>
            </a: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EE731D"/>
                </a:solidFill>
                <a:latin typeface="Open Sans"/>
                <a:ea typeface="Open Sans"/>
                <a:cs typeface="Open Sans"/>
                <a:sym typeface="Open Sans"/>
              </a:rPr>
              <a:t>ENTOMOLOGISTA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1900">
              <a:solidFill>
                <a:srgbClr val="EE73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49690" y="400357"/>
            <a:ext cx="3985005" cy="99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5"/>
              </a:lnSpc>
            </a:pPr>
            <a:r>
              <a:rPr lang="en-US" sz="2847" b="1" dirty="0">
                <a:solidFill>
                  <a:srgbClr val="220A2A"/>
                </a:solidFill>
                <a:latin typeface="Oswald Bold"/>
                <a:ea typeface="Oswald Bold"/>
                <a:cs typeface="Oswald Bold"/>
                <a:sym typeface="Oswald Bold"/>
              </a:rPr>
              <a:t>MULHERES NAS COLEÇÕES </a:t>
            </a:r>
          </a:p>
          <a:p>
            <a:pPr algn="ctr">
              <a:lnSpc>
                <a:spcPts val="3985"/>
              </a:lnSpc>
              <a:spcBef>
                <a:spcPct val="0"/>
              </a:spcBef>
            </a:pPr>
            <a:r>
              <a:rPr lang="en-US" sz="2847" b="1" dirty="0">
                <a:solidFill>
                  <a:srgbClr val="220A2A"/>
                </a:solidFill>
                <a:latin typeface="Oswald Bold"/>
                <a:ea typeface="Oswald Bold"/>
                <a:cs typeface="Oswald Bold"/>
                <a:sym typeface="Oswald Bold"/>
              </a:rPr>
              <a:t>BIOLÓGICAS DA FIOCRUZ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110" y="5262375"/>
            <a:ext cx="3432893" cy="1201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Dra. Monique de</a:t>
            </a:r>
          </a:p>
          <a:p>
            <a:pPr algn="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Albuquerque  Motta</a:t>
            </a:r>
          </a:p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EE731D"/>
                </a:solidFill>
                <a:latin typeface="Open Sans"/>
                <a:ea typeface="Open Sans"/>
                <a:cs typeface="Open Sans"/>
                <a:sym typeface="Open Sans"/>
              </a:rPr>
              <a:t>ENTOMOLOGISTA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08874" y="2831061"/>
            <a:ext cx="4051126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endParaRPr dirty="0"/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Atuação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1980 a 2024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endParaRPr lang="en-US" sz="1499" b="1" dirty="0">
              <a:solidFill>
                <a:srgbClr val="3613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Instituto Oswaldo Cruz - FIOCRUZ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endParaRPr lang="en-US" sz="1499" b="1" dirty="0">
              <a:solidFill>
                <a:srgbClr val="3613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Pesquisadora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Saúde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Pública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Especialista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Mosquitos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  <a:endParaRPr lang="en-US" sz="1499" b="1" dirty="0">
              <a:solidFill>
                <a:srgbClr val="36134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Ex-</a:t>
            </a: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Curadora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da </a:t>
            </a:r>
            <a:r>
              <a:rPr lang="en-US" sz="1499" b="1" dirty="0" err="1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Coleção</a:t>
            </a:r>
            <a:r>
              <a:rPr lang="en-US" sz="1499" b="1" dirty="0">
                <a:solidFill>
                  <a:srgbClr val="36134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 Culicidae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110" y="9115913"/>
            <a:ext cx="4955611" cy="125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sz="1808">
                <a:solidFill>
                  <a:srgbClr val="220A2A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Estas pesquisadoras contribuíram para o avanço da ciência brasileira  e formaram novos profissionais, deixando um legado que continuará florescendo nas futuras gerações de cientistas.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1198" y="5763611"/>
            <a:ext cx="4130249" cy="4671780"/>
          </a:xfrm>
          <a:custGeom>
            <a:avLst/>
            <a:gdLst/>
            <a:ahLst/>
            <a:cxnLst/>
            <a:rect l="l" t="t" r="r" b="b"/>
            <a:pathLst>
              <a:path w="4130249" h="4671780">
                <a:moveTo>
                  <a:pt x="0" y="0"/>
                </a:moveTo>
                <a:lnTo>
                  <a:pt x="4130249" y="0"/>
                </a:lnTo>
                <a:lnTo>
                  <a:pt x="4130249" y="4671780"/>
                </a:lnTo>
                <a:lnTo>
                  <a:pt x="0" y="467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l="-1311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22860" y="7165103"/>
            <a:ext cx="3745111" cy="222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Ingressou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Fiocruz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1984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estagiária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No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1990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tornou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-se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pesquisadora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saúde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pública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Cursou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mestrado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doutorado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Biologia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Parasitária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Instituto Oswaldo Cruz.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Desenvolveu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pesquisas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área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entomologia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dedicando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-se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mosquitos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silvestres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incluindo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vetores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arboviroses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4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Brasil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269324" y="9426476"/>
            <a:ext cx="1121930" cy="1112280"/>
          </a:xfrm>
          <a:custGeom>
            <a:avLst/>
            <a:gdLst/>
            <a:ahLst/>
            <a:cxnLst/>
            <a:rect l="l" t="t" r="r" b="b"/>
            <a:pathLst>
              <a:path w="1121930" h="1112280">
                <a:moveTo>
                  <a:pt x="0" y="0"/>
                </a:moveTo>
                <a:lnTo>
                  <a:pt x="1121931" y="0"/>
                </a:lnTo>
                <a:lnTo>
                  <a:pt x="1121931" y="1112281"/>
                </a:lnTo>
                <a:lnTo>
                  <a:pt x="0" y="1112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93" t="-4670" r="-2275" b="-454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393936" y="1091831"/>
            <a:ext cx="4671780" cy="4671780"/>
          </a:xfrm>
          <a:custGeom>
            <a:avLst/>
            <a:gdLst/>
            <a:ahLst/>
            <a:cxnLst/>
            <a:rect l="l" t="t" r="r" b="b"/>
            <a:pathLst>
              <a:path w="4671780" h="4671780">
                <a:moveTo>
                  <a:pt x="0" y="0"/>
                </a:moveTo>
                <a:lnTo>
                  <a:pt x="4671781" y="0"/>
                </a:lnTo>
                <a:lnTo>
                  <a:pt x="4671781" y="4671780"/>
                </a:lnTo>
                <a:lnTo>
                  <a:pt x="0" y="467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313558" y="720000"/>
            <a:ext cx="1410222" cy="1603589"/>
          </a:xfrm>
          <a:custGeom>
            <a:avLst/>
            <a:gdLst/>
            <a:ahLst/>
            <a:cxnLst/>
            <a:rect l="l" t="t" r="r" b="b"/>
            <a:pathLst>
              <a:path w="1410222" h="1603589">
                <a:moveTo>
                  <a:pt x="0" y="0"/>
                </a:moveTo>
                <a:lnTo>
                  <a:pt x="1410222" y="0"/>
                </a:lnTo>
                <a:lnTo>
                  <a:pt x="1410222" y="1603589"/>
                </a:lnTo>
                <a:lnTo>
                  <a:pt x="0" y="1603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49" r="-14157" b="-7256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5644827" y="7193678"/>
            <a:ext cx="1956473" cy="1956473"/>
          </a:xfrm>
          <a:custGeom>
            <a:avLst/>
            <a:gdLst/>
            <a:ahLst/>
            <a:cxnLst/>
            <a:rect l="l" t="t" r="r" b="b"/>
            <a:pathLst>
              <a:path w="1956473" h="1956473">
                <a:moveTo>
                  <a:pt x="0" y="0"/>
                </a:moveTo>
                <a:lnTo>
                  <a:pt x="1956473" y="0"/>
                </a:lnTo>
                <a:lnTo>
                  <a:pt x="1956473" y="1956474"/>
                </a:lnTo>
                <a:lnTo>
                  <a:pt x="0" y="195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4404077" y="6712178"/>
            <a:ext cx="2699132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 CONTRIBUIÇÕES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E LEGADO</a:t>
            </a:r>
          </a:p>
        </p:txBody>
      </p:sp>
      <p:sp>
        <p:nvSpPr>
          <p:cNvPr id="9" name="Freeform 9"/>
          <p:cNvSpPr/>
          <p:nvPr/>
        </p:nvSpPr>
        <p:spPr>
          <a:xfrm>
            <a:off x="269324" y="5416266"/>
            <a:ext cx="1275701" cy="1670757"/>
          </a:xfrm>
          <a:custGeom>
            <a:avLst/>
            <a:gdLst/>
            <a:ahLst/>
            <a:cxnLst/>
            <a:rect l="l" t="t" r="r" b="b"/>
            <a:pathLst>
              <a:path w="1275701" h="1670757">
                <a:moveTo>
                  <a:pt x="0" y="0"/>
                </a:moveTo>
                <a:lnTo>
                  <a:pt x="1275702" y="0"/>
                </a:lnTo>
                <a:lnTo>
                  <a:pt x="1275702" y="1670757"/>
                </a:lnTo>
                <a:lnTo>
                  <a:pt x="0" y="16707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346" r="-22851" b="-6001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AutoShape 10"/>
          <p:cNvSpPr/>
          <p:nvPr/>
        </p:nvSpPr>
        <p:spPr>
          <a:xfrm>
            <a:off x="2440720" y="4781143"/>
            <a:ext cx="2419200" cy="0"/>
          </a:xfrm>
          <a:prstGeom prst="line">
            <a:avLst/>
          </a:prstGeom>
          <a:ln w="38100" cap="flat">
            <a:solidFill>
              <a:srgbClr val="FF751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198509" y="278040"/>
            <a:ext cx="1444891" cy="348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QUEM 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8830" y="2159656"/>
            <a:ext cx="2026754" cy="348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TRAJETÓRIA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8829" y="200399"/>
            <a:ext cx="5471991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Dra. Teresa Fernandes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atuou como pesquisadora em saúde pública no Instituto Oswaldo Cruz. Dedicou-se a pesquisa e ensino na área de entomologia e parasitologia. Foi curadora adjunta da Coleção de Culicidae da Fiocruz em diferentes períodos entre 2011 e 2023. Aposentou-se no ano de 2024.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3457" y="2630191"/>
            <a:ext cx="3628921" cy="204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46"/>
              </a:lnSpc>
              <a:spcBef>
                <a:spcPct val="0"/>
              </a:spcBef>
            </a:pP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Ingressou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Fiocruz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1980,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onde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tarde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cursou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mestrado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doutorado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Biologia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Parasitária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Tronou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-se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pesquisadora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saúde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pública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1989.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Desenvolveu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importantes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pesquisas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taxonomia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comportamento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mosquitos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vetores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malária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14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Brasil</a:t>
            </a:r>
            <a:r>
              <a:rPr lang="en-US" sz="14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40077" y="1920681"/>
            <a:ext cx="2304157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 CONTRIBUIÇÕES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E LEGADO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67971" y="2720695"/>
            <a:ext cx="3353711" cy="189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7936" lvl="1" indent="-148968" algn="just">
              <a:lnSpc>
                <a:spcPts val="1931"/>
              </a:lnSpc>
              <a:spcBef>
                <a:spcPct val="0"/>
              </a:spcBef>
              <a:buFont typeface="Arial"/>
              <a:buChar char="•"/>
            </a:pP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Descrição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novas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espécies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mosquitos.</a:t>
            </a:r>
          </a:p>
          <a:p>
            <a:pPr marL="297936" lvl="1" indent="-148968" algn="just">
              <a:lnSpc>
                <a:spcPts val="1931"/>
              </a:lnSpc>
              <a:spcBef>
                <a:spcPct val="0"/>
              </a:spcBef>
              <a:buFont typeface="Arial"/>
              <a:buChar char="•"/>
            </a:pP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Formação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professores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profissionais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área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saúde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97936" lvl="1" indent="-148968" algn="just">
              <a:lnSpc>
                <a:spcPts val="1931"/>
              </a:lnSpc>
              <a:spcBef>
                <a:spcPct val="0"/>
              </a:spcBef>
              <a:buFont typeface="Arial"/>
              <a:buChar char="•"/>
            </a:pP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Estudos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fauna e a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dinâmica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transmissão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malária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regiões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Mata </a:t>
            </a:r>
            <a:r>
              <a:rPr lang="en-US" sz="137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Atlântica</a:t>
            </a:r>
            <a:r>
              <a:rPr lang="en-US" sz="137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Amazônia e Pantanal.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134" y="4974306"/>
            <a:ext cx="1444891" cy="348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QUEM 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3780" y="5000218"/>
            <a:ext cx="5535335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Dra. Monique Motta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atuou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pesquisadora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saúde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pública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Instituto Oswaldo Cruz.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Dedicou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-se a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pesquisa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ensino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área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biologia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comportamento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mosquitos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silvestres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Foi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curadora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curadora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adjunta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Coleção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Culicidae da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Fiocruz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diferentes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períodos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entre 2011 e 2023.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Aposentou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-se no </a:t>
            </a:r>
            <a:r>
              <a:rPr lang="en-US" sz="15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ano</a:t>
            </a:r>
            <a:r>
              <a:rPr lang="en-US" sz="15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2023.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26528" y="7542880"/>
            <a:ext cx="3132587" cy="172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4" lvl="1" indent="-151132" algn="just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Descrição de novas espécies de mosquitos. </a:t>
            </a:r>
          </a:p>
          <a:p>
            <a:pPr marL="302264" lvl="1" indent="-151132" algn="just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Formação de professores e profissionais da área da saúde. </a:t>
            </a:r>
          </a:p>
          <a:p>
            <a:pPr marL="302264" lvl="1" indent="-151132" algn="just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Estudos sobre a  fauna de mosquitos silvestres de diferentes regiões brasileiras.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3838" y="9529843"/>
            <a:ext cx="4339978" cy="90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56"/>
              </a:lnSpc>
              <a:spcBef>
                <a:spcPct val="0"/>
              </a:spcBef>
            </a:pPr>
            <a:r>
              <a:rPr lang="en-US" sz="1754">
                <a:solidFill>
                  <a:srgbClr val="EE731D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Aponte a câmara do celular e saiba mais sobre as contribuições científicas das Dras. Teresa Fernandes e Monique Motta.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19" y="6750933"/>
            <a:ext cx="1849759" cy="348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FFFFFF"/>
                </a:solidFill>
                <a:highlight>
                  <a:srgbClr val="220A2A"/>
                </a:highlight>
                <a:latin typeface="Open Sans Bold"/>
                <a:ea typeface="Open Sans Bold"/>
                <a:cs typeface="Open Sans Bold"/>
                <a:sym typeface="Open Sans Bold"/>
              </a:rPr>
              <a:t>TRAJETÓRIA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395</Words>
  <Application>Microsoft Office PowerPoint</Application>
  <PresentationFormat>Personalizar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Open Sans Bold</vt:lpstr>
      <vt:lpstr>Arial</vt:lpstr>
      <vt:lpstr>Oswald Bold</vt:lpstr>
      <vt:lpstr>Calibri</vt:lpstr>
      <vt:lpstr>Dreaming Outloud Sans</vt:lpstr>
      <vt:lpstr>Open Sans</vt:lpstr>
      <vt:lpstr>Office Theme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Gourmet</dc:title>
  <dc:creator>CCULI Ideapad 3i</dc:creator>
  <cp:lastModifiedBy>Barbara Dias</cp:lastModifiedBy>
  <cp:revision>4</cp:revision>
  <dcterms:created xsi:type="dcterms:W3CDTF">2006-08-16T00:00:00Z</dcterms:created>
  <dcterms:modified xsi:type="dcterms:W3CDTF">2026-07-03T13:30:49Z</dcterms:modified>
  <dc:identifier>DAHMpZ29mKI</dc:identifier>
</cp:coreProperties>
</file>
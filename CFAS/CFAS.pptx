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2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bara Dias" userId="ba0cd939eb02abdc" providerId="LiveId" clId="{BEE9F3B6-DBB9-4C3D-94FC-6FE192C6A615}"/>
    <pc:docChg chg="undo custSel addSld delSld modSld sldOrd">
      <pc:chgData name="Barbara Dias" userId="ba0cd939eb02abdc" providerId="LiveId" clId="{BEE9F3B6-DBB9-4C3D-94FC-6FE192C6A615}" dt="2026-07-03T15:36:50.510" v="8"/>
      <pc:docMkLst>
        <pc:docMk/>
      </pc:docMkLst>
      <pc:sldChg chg="del">
        <pc:chgData name="Barbara Dias" userId="ba0cd939eb02abdc" providerId="LiveId" clId="{BEE9F3B6-DBB9-4C3D-94FC-6FE192C6A615}" dt="2026-07-03T15:36:31.761" v="1" actId="47"/>
        <pc:sldMkLst>
          <pc:docMk/>
          <pc:sldMk cId="600583078" sldId="257"/>
        </pc:sldMkLst>
      </pc:sldChg>
      <pc:sldChg chg="delSp mod">
        <pc:chgData name="Barbara Dias" userId="ba0cd939eb02abdc" providerId="LiveId" clId="{BEE9F3B6-DBB9-4C3D-94FC-6FE192C6A615}" dt="2026-07-03T15:36:36.085" v="2" actId="478"/>
        <pc:sldMkLst>
          <pc:docMk/>
          <pc:sldMk cId="3263051538" sldId="258"/>
        </pc:sldMkLst>
        <pc:picChg chg="del">
          <ac:chgData name="Barbara Dias" userId="ba0cd939eb02abdc" providerId="LiveId" clId="{BEE9F3B6-DBB9-4C3D-94FC-6FE192C6A615}" dt="2026-07-03T15:36:36.085" v="2" actId="478"/>
          <ac:picMkLst>
            <pc:docMk/>
            <pc:sldMk cId="3263051538" sldId="258"/>
            <ac:picMk id="4" creationId="{5FFAF222-FDED-FE9B-81B7-19F207BF2C6A}"/>
          </ac:picMkLst>
        </pc:picChg>
      </pc:sldChg>
      <pc:sldChg chg="delSp modSp add del mod">
        <pc:chgData name="Barbara Dias" userId="ba0cd939eb02abdc" providerId="LiveId" clId="{BEE9F3B6-DBB9-4C3D-94FC-6FE192C6A615}" dt="2026-07-03T15:36:43.419" v="6" actId="1076"/>
        <pc:sldMkLst>
          <pc:docMk/>
          <pc:sldMk cId="894849861" sldId="259"/>
        </pc:sldMkLst>
        <pc:picChg chg="del">
          <ac:chgData name="Barbara Dias" userId="ba0cd939eb02abdc" providerId="LiveId" clId="{BEE9F3B6-DBB9-4C3D-94FC-6FE192C6A615}" dt="2026-07-03T15:36:41.407" v="5" actId="478"/>
          <ac:picMkLst>
            <pc:docMk/>
            <pc:sldMk cId="894849861" sldId="259"/>
            <ac:picMk id="4" creationId="{E60B31D5-B190-018A-D03F-0A95916B526D}"/>
          </ac:picMkLst>
        </pc:picChg>
        <pc:picChg chg="mod">
          <ac:chgData name="Barbara Dias" userId="ba0cd939eb02abdc" providerId="LiveId" clId="{BEE9F3B6-DBB9-4C3D-94FC-6FE192C6A615}" dt="2026-07-03T15:36:43.419" v="6" actId="1076"/>
          <ac:picMkLst>
            <pc:docMk/>
            <pc:sldMk cId="894849861" sldId="259"/>
            <ac:picMk id="5" creationId="{4FBF11DF-B4DE-EC88-AE25-6C42413C226B}"/>
          </ac:picMkLst>
        </pc:picChg>
      </pc:sldChg>
      <pc:sldChg chg="del">
        <pc:chgData name="Barbara Dias" userId="ba0cd939eb02abdc" providerId="LiveId" clId="{BEE9F3B6-DBB9-4C3D-94FC-6FE192C6A615}" dt="2026-07-03T15:36:12.149" v="0" actId="47"/>
        <pc:sldMkLst>
          <pc:docMk/>
          <pc:sldMk cId="3015430609" sldId="260"/>
        </pc:sldMkLst>
      </pc:sldChg>
      <pc:sldChg chg="ord">
        <pc:chgData name="Barbara Dias" userId="ba0cd939eb02abdc" providerId="LiveId" clId="{BEE9F3B6-DBB9-4C3D-94FC-6FE192C6A615}" dt="2026-07-03T15:36:50.510" v="8"/>
        <pc:sldMkLst>
          <pc:docMk/>
          <pc:sldMk cId="1402860537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B0EA3-40DF-58BC-FA2A-B5BC5AD25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F4A52D-2AA4-2253-69EF-02975E5FF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3B77F7-3C9D-27C6-66BB-89B0853F4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D4693C-D58B-ED60-8F05-D0D4AD589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780D75-C1B7-A28E-AA0E-3ECC119D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862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B4355-3862-60BD-4B89-32ECBB5E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50BBC6-1021-C83E-8D83-0B9CB8BD3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96338A-6DC6-318B-4F95-2007B0B2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DBD322-7FF1-7856-331D-01EF34FB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5D4A58-94E1-D23C-FFC0-FE36DE1E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34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51916-BB0B-AF73-E5DF-D0764B66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3F1865-B600-BA31-3B8A-CDAD46BC7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0BE7BA-5414-600F-4D20-DB606AB4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C07E09-0576-996F-658C-728609B9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C51A52-DEE0-2F19-EB8B-13AEB3FB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72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9BFE5-FDEE-D77F-C6B3-D40A7E6F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ECE8D5-1D55-47E2-5E66-FEAA2D21C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63EC54-8BAA-C5F3-2A7F-00FB707D2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23CECB-BF86-2E2C-C2D9-34CE4A89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57AD03-1938-EEF8-8A29-588925D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5C583D-04F9-13B9-A551-076FC852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971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CA604-00BC-94FB-6AA2-000D87F7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CFA1D5-5E49-2A0D-D9D2-59A98BC6E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1DA9E2-7B83-AB46-E3D3-6291E3460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67B4A-877C-127F-2ED6-EC206FEA3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03FFDF-87CD-EE3C-A596-ED4166899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310447-5B1F-778A-EF47-C1D884039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97C2F63-0797-48DD-F119-B53C12C9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56E6E9C-1FEA-AD1C-82F4-83CC9673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678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0E090-ED39-D3C2-964D-37311643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B073228-11D9-A212-9100-28712484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4F5B18-DF1C-2585-081E-E5D0103C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A765679-B4B1-1514-F7AD-7213ED63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04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42E0E36-B5A8-63F1-D31B-B476EA7A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FD0301-5FBB-4D33-6219-065845010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DB5CC5-5ED1-7781-E227-B4029C80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092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F7CC2-DDFA-B45E-7946-FEF6F1D07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103F76-2FB8-9B51-6B71-C784C0039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0A6F88-E0D9-80D2-6C17-3BA956621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0DDFAE-482B-0F90-344D-D8FD2F48C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507E01-1ECD-FDF7-2637-6D0D3A91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977E9E-E84E-908F-B576-AB41C83F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275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99C8A-122B-2EE4-D298-DB353C4D3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1E27905-63EC-281D-7610-A5698A1E6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5FB774-75DF-4892-4B8C-9761E1EEF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E315E8-2769-96B5-0C57-3618E332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7D50AA-D228-5A16-B831-B3A81046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56F666-F662-9517-76A2-B46E1FA2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69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45F2B-E904-7E3C-8ABA-3E4D554F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F08696-05C5-4849-6523-66538E9D0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75066-5A34-E65C-99E2-B71ADE109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B2806E-BB5E-B8AF-7B5C-276D689AB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B026E5-95AC-8CF6-C394-3DEA6F06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00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655032-E554-FB2C-4A00-34C1C76A3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123282-85C4-C98D-4792-232662DE4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257B85-4F07-5D13-B5B5-A776FEE64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EBF1CF-1FA2-A988-BCD4-97ABD2B7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BF383D-9F6F-827B-126F-BC03CEA9E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16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CFE91D1-48E3-299D-9071-E6597C8D2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68837C-781B-5B22-F36F-B8B44DF6B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CDFF03-27E0-77A3-E6F1-A73D56A10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5E4727-3EE9-BF47-1690-6B80FAD65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47874E-A8FA-E392-1B1D-A9FAF4A39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6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DDC6A6-37A0-801D-7D6F-25399EB79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pt-BR" sz="4000" dirty="0">
                <a:solidFill>
                  <a:schemeClr val="tx2"/>
                </a:solidFill>
              </a:rPr>
              <a:t>Display de mesa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029BD6-88A5-C798-B7A9-24C2B6359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 fontScale="92500" lnSpcReduction="10000"/>
          </a:bodyPr>
          <a:lstStyle/>
          <a:p>
            <a:pPr algn="l"/>
            <a:r>
              <a:rPr lang="pt-BR" sz="1050" dirty="0">
                <a:solidFill>
                  <a:schemeClr val="tx2"/>
                </a:solidFill>
              </a:rPr>
              <a:t>Por trás de cada coleção científica existem mulheres que pesquisaram, preservaram, ensinaram e transformaram conhecimento em legado. Esta homenagem reconhece trajetórias femininas fundamentais para a construção e manutenção das coleções biológicas e para o fortalecimento da ciência e da saúde pública no Brasil. Ao revelar essas histórias, convidamos novas gerações a descobrir que a ciência também é feita de memória, dedicação e inspiração.</a:t>
            </a:r>
          </a:p>
        </p:txBody>
      </p:sp>
      <p:pic>
        <p:nvPicPr>
          <p:cNvPr id="4" name="Picture 2" descr="Logotipo&#10;&#10;Descrição gerada automaticamente com confiança média">
            <a:extLst>
              <a:ext uri="{FF2B5EF4-FFF2-40B4-BE49-F238E27FC236}">
                <a16:creationId xmlns:a16="http://schemas.microsoft.com/office/drawing/2014/main" id="{49775FBF-AB9C-0747-BA05-2C684F0636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0" t="34943" r="12616" b="35670"/>
          <a:stretch>
            <a:fillRect/>
          </a:stretch>
        </p:blipFill>
        <p:spPr bwMode="auto">
          <a:xfrm>
            <a:off x="340470" y="3058754"/>
            <a:ext cx="4141760" cy="1654892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8936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529F5-6A29-ECA8-6079-8623F6A06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512068C-BB3A-4807-8C55-E5B0CF1AB383}"/>
              </a:ext>
            </a:extLst>
          </p:cNvPr>
          <p:cNvSpPr txBox="1"/>
          <p:nvPr/>
        </p:nvSpPr>
        <p:spPr>
          <a:xfrm>
            <a:off x="835479" y="751344"/>
            <a:ext cx="5343524" cy="2677656"/>
          </a:xfrm>
          <a:prstGeom prst="rect">
            <a:avLst/>
          </a:prstGeom>
          <a:noFill/>
        </p:spPr>
        <p:txBody>
          <a:bodyPr wrap="square" lIns="91440" tIns="45720" rIns="91440" bIns="45720" numCol="1" anchor="t">
            <a:spAutoFit/>
          </a:bodyPr>
          <a:lstStyle/>
          <a:p>
            <a:r>
              <a:rPr lang="pt-BR" sz="1400" b="1" dirty="0"/>
              <a:t>Frente (impacto visual)</a:t>
            </a:r>
          </a:p>
          <a:p>
            <a:pPr defTabSz="180975"/>
            <a:endParaRPr lang="pt-BR" sz="1400" dirty="0"/>
          </a:p>
          <a:p>
            <a:pPr defTabSz="180975">
              <a:lnSpc>
                <a:spcPct val="150000"/>
              </a:lnSpc>
            </a:pPr>
            <a:r>
              <a:rPr lang="pt-BR" sz="1400" dirty="0"/>
              <a:t>•	Foto da homenageada</a:t>
            </a:r>
          </a:p>
          <a:p>
            <a:pPr defTabSz="180975">
              <a:lnSpc>
                <a:spcPct val="150000"/>
              </a:lnSpc>
            </a:pPr>
            <a:r>
              <a:rPr lang="pt-BR" sz="1400" dirty="0"/>
              <a:t>•	Marília Martins Nishikawa</a:t>
            </a:r>
          </a:p>
          <a:p>
            <a:pPr defTabSz="180975">
              <a:lnSpc>
                <a:spcPct val="150000"/>
              </a:lnSpc>
            </a:pPr>
            <a:r>
              <a:rPr lang="pt-BR" sz="1400" dirty="0"/>
              <a:t>•	Micologia, Microbiologia e Coleções Biológicas de Microrganismos</a:t>
            </a:r>
          </a:p>
          <a:p>
            <a:pPr defTabSz="180975">
              <a:lnSpc>
                <a:spcPct val="150000"/>
              </a:lnSpc>
            </a:pPr>
            <a:r>
              <a:rPr lang="pt-BR" sz="1400" dirty="0"/>
              <a:t>•	1983 – 2020 </a:t>
            </a:r>
          </a:p>
          <a:p>
            <a:pPr defTabSz="180975">
              <a:lnSpc>
                <a:spcPct val="150000"/>
              </a:lnSpc>
            </a:pPr>
            <a:r>
              <a:rPr lang="pt-BR" sz="1400"/>
              <a:t>• 	Instituto Nacional de Controle de Qualidade em Saúde - INCQS</a:t>
            </a:r>
            <a:endParaRPr lang="pt-BR" sz="1400">
              <a:ea typeface="Calibri"/>
              <a:cs typeface="Calibri"/>
            </a:endParaRPr>
          </a:p>
          <a:p>
            <a:pPr defTabSz="180975">
              <a:lnSpc>
                <a:spcPct val="150000"/>
              </a:lnSpc>
            </a:pPr>
            <a:r>
              <a:rPr lang="pt-BR" sz="1400" dirty="0"/>
              <a:t>•	“Sem o esforço da busca é impossível a alegria do encontro”</a:t>
            </a:r>
          </a:p>
          <a:p>
            <a:endParaRPr lang="pt-BR" sz="1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BF11DF-B4DE-EC88-AE25-6C42413C2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478" y="1067842"/>
            <a:ext cx="27527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49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B7EB7EC-3A06-3BF1-E543-40F0660DB289}"/>
              </a:ext>
            </a:extLst>
          </p:cNvPr>
          <p:cNvSpPr txBox="1"/>
          <p:nvPr/>
        </p:nvSpPr>
        <p:spPr>
          <a:xfrm>
            <a:off x="618518" y="83085"/>
            <a:ext cx="7154693" cy="6106736"/>
          </a:xfrm>
          <a:prstGeom prst="rect">
            <a:avLst/>
          </a:prstGeom>
          <a:noFill/>
        </p:spPr>
        <p:txBody>
          <a:bodyPr wrap="square" lIns="91440" tIns="45720" rIns="91440" bIns="45720" numCol="1" anchor="t">
            <a:spAutoFit/>
          </a:bodyPr>
          <a:lstStyle/>
          <a:p>
            <a:r>
              <a:rPr lang="pt-BR" sz="1200" b="1" dirty="0"/>
              <a:t>Verso (informações padronizadas)</a:t>
            </a:r>
          </a:p>
          <a:p>
            <a:r>
              <a:rPr lang="pt-BR" sz="1200" dirty="0"/>
              <a:t>Para o display, esses blocos  de informação tem que ser curtos e vamos tentar padronizar o tamanho para todas as homenageadas:</a:t>
            </a:r>
          </a:p>
          <a:p>
            <a:endParaRPr lang="pt-BR" sz="1200" dirty="0"/>
          </a:p>
          <a:p>
            <a:r>
              <a:rPr lang="pt-BR" sz="1200" b="1" dirty="0"/>
              <a:t>1. Quem foi?</a:t>
            </a:r>
          </a:p>
          <a:p>
            <a:r>
              <a:rPr lang="pt-BR" sz="1200" dirty="0"/>
              <a:t>Dra. Marília Martins Nishikawa é biomédica, mestre em Biologia Celular e Molecular e doutora em Vigilância Sanitária pela Fiocruz. Atuou de 1983 a 2020 no Instituto Nacional de Controle de Qualidade em Saúde (INCQS/Fiocruz) como Tecnologista em Saúde Pública. Sua carreira foi dedicada à micologia, com foco na caracterização e preservação de fungos de importância médica e para a saúde pública. </a:t>
            </a:r>
          </a:p>
          <a:p>
            <a:endParaRPr lang="pt-BR" sz="1200" dirty="0"/>
          </a:p>
          <a:p>
            <a:r>
              <a:rPr lang="pt-BR" sz="1200" b="1" dirty="0"/>
              <a:t>2. Sua contribuição para as coleções biológicas</a:t>
            </a:r>
          </a:p>
          <a:p>
            <a:pPr defTabSz="179388"/>
            <a:r>
              <a:rPr lang="pt-BR" sz="1200" dirty="0"/>
              <a:t>Atuou na Coleção de Fungos do Ambiente e Saúde (Fiocruz/CFAS), desenvolvendo pesquisas sobre fungos de interesse médico e ambiental. Trabalhou na preservação, caracterização molecular e fornecimento de microrganismos de referência, contribuindo para a vigilância sanitária, o controle de qualidade e a formação de recursos humanos especializados.</a:t>
            </a:r>
          </a:p>
          <a:p>
            <a:endParaRPr lang="pt-BR" sz="1200" dirty="0"/>
          </a:p>
          <a:p>
            <a:r>
              <a:rPr lang="pt-BR" sz="1200" b="1" dirty="0"/>
              <a:t>3. Por que sua trajetória é importante?</a:t>
            </a:r>
          </a:p>
          <a:p>
            <a:endParaRPr lang="pt-BR" sz="1200" b="1" dirty="0"/>
          </a:p>
          <a:p>
            <a:pPr defTabSz="179388"/>
            <a:r>
              <a:rPr lang="pt-BR" sz="1200" dirty="0"/>
              <a:t>•	Desde 1983 estabeleceu e fortaleceu a CFAS.</a:t>
            </a:r>
          </a:p>
          <a:p>
            <a:pPr defTabSz="179388"/>
            <a:r>
              <a:rPr lang="pt-BR" sz="1200" dirty="0"/>
              <a:t>•	Desenvolveu estudos pioneiros sobre a diversidade genética e a epidemiologia de fungos patogênicos no 	Brasil.</a:t>
            </a:r>
          </a:p>
          <a:p>
            <a:pPr defTabSz="179388"/>
            <a:r>
              <a:rPr lang="pt-BR" sz="1200" dirty="0"/>
              <a:t>•	Ministrou cursos e difundiu técnicas de preservação e manutenção de microrganismos de referência.</a:t>
            </a:r>
          </a:p>
          <a:p>
            <a:pPr defTabSz="179388"/>
            <a:r>
              <a:rPr lang="pt-BR" sz="1200" dirty="0"/>
              <a:t>•	Contribuiu para a integração entre coleções biológicas, pesquisa científica e saúde pública.</a:t>
            </a:r>
          </a:p>
          <a:p>
            <a:pPr defTabSz="179388"/>
            <a:endParaRPr lang="pt-BR" sz="1200" dirty="0"/>
          </a:p>
          <a:p>
            <a:r>
              <a:rPr lang="pt-BR" sz="1200" b="1" dirty="0"/>
              <a:t>4. Curiosidade ou legado</a:t>
            </a:r>
          </a:p>
          <a:p>
            <a:r>
              <a:rPr lang="pt-BR" sz="1200" dirty="0"/>
              <a:t>Marília Nishikawa demonstrou que as coleções biológicas são espaços de inovação, conhecimento e cuidado com a vida. Sua trajetória evidencia o papel das mulheres na construção da ciência brasileira e na preservação do patrimônio microbiológico, deixando um legado que conecta pesquisa, saúde pública e formação de novas gerações de cientistas. </a:t>
            </a:r>
          </a:p>
          <a:p>
            <a:endParaRPr lang="pt-BR" sz="1200" dirty="0"/>
          </a:p>
          <a:p>
            <a:r>
              <a:rPr lang="pt-BR" sz="1200" b="1" dirty="0"/>
              <a:t>5. Mensagem inspiradora ao visitante</a:t>
            </a:r>
          </a:p>
          <a:p>
            <a:pPr defTabSz="180975">
              <a:lnSpc>
                <a:spcPct val="150000"/>
              </a:lnSpc>
            </a:pPr>
            <a:r>
              <a:rPr lang="pt-BR" sz="1200" dirty="0"/>
              <a:t>“Sem o esforço da busca é impossível a alegria do encontro”</a:t>
            </a:r>
          </a:p>
        </p:txBody>
      </p:sp>
    </p:spTree>
    <p:extLst>
      <p:ext uri="{BB962C8B-B14F-4D97-AF65-F5344CB8AC3E}">
        <p14:creationId xmlns:p14="http://schemas.microsoft.com/office/powerpoint/2010/main" val="326305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4FEE-7ED7-491C-AA7D-32EEF169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325E1F3-48E7-A971-C58D-BDEE75A9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/>
              <a:t>Colecionar é POP: Mulheres que preservam a Ciência nas Coleções Biológicas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37C3E76-A0D0-A703-9E01-83D1C0499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144125" cy="504326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1400" b="1" dirty="0"/>
              <a:t>Quem é?</a:t>
            </a:r>
            <a:endParaRPr lang="pt-BR" sz="1400" dirty="0"/>
          </a:p>
          <a:p>
            <a:pPr marL="180975" indent="0" algn="just">
              <a:buNone/>
            </a:pPr>
            <a:r>
              <a:rPr lang="pt-BR" sz="1100" dirty="0"/>
              <a:t>Marília Martins Nishikawa é biomédica e foi Tecnologista em Saúde Pública da Fundação Oswaldo Cruz (Fiocruz), com uma trajetória dedicada à micologia e à microbiologia aplicada à saúde pública. Graduada em </a:t>
            </a:r>
            <a:r>
              <a:rPr lang="pt-BR" sz="1100">
                <a:ea typeface="+mn-lt"/>
                <a:cs typeface="+mn-lt"/>
              </a:rPr>
              <a:t>Biomedicina pela</a:t>
            </a:r>
            <a:r>
              <a:rPr lang="pt-BR" sz="1100" dirty="0"/>
              <a:t> Universidade Estadual de Londrina, possui especializações em Microbiologia, Imunologia e Micologia Médica, além de mestrado em Biologia Celular e Molecular e doutorado em Vigilância Sanitária pela Fiocruz. Desde 1983, atou no Setor de Fungos do Instituto Nacional de Controle de Qualidade em Saúde (INCQS/Fiocruz), onde foi curadora da Coleção de Fungos do Ambiente e Saúde (Fiocruz/CFAS) desenvolvendo pesquisas voltadas à caracterização molecular de fungos e à manutenção de microrganismos de referência. Sua atuação integrou pesquisa científica, vigilância sanitária e preservação da biodiversidade microbiana, contribuindo para o fortalecimento das coleções biológicas e para o avanço do conhecimento sobre fungos de interesse em saúde pública.</a:t>
            </a:r>
          </a:p>
          <a:p>
            <a:r>
              <a:rPr lang="pt-BR" sz="1400" b="1" dirty="0"/>
              <a:t>Contribuições para as coleções biológicas</a:t>
            </a:r>
          </a:p>
          <a:p>
            <a:pPr marL="180975" indent="0" algn="just">
              <a:buNone/>
            </a:pPr>
            <a:r>
              <a:rPr lang="pt-BR" sz="1100" dirty="0"/>
              <a:t>A trajetória científica de Marília Martins Nishikawa está profundamente ligada às coleções biológicas de microrganismos da Fiocruz. Ao longo de sua carreira, atuou na produção, manutenção e fornecimento de fungos de referência, fundamentais para o controle de qualidade laboratorial, a pesquisa científica e a vigilância em saúde. Sua principal linha de pesquisa concentrou-se na caracterização molecular dos fungos da CFAS, contribuindo para a identificação, preservação e documentação de importantes espécies de interesse médico. Desenvolveu estudos sobre a diversidade genética, epidemiologia e sensibilidade a antifúngicos de fungos patogênicos, especialmente do gênero </a:t>
            </a:r>
            <a:r>
              <a:rPr lang="pt-BR" sz="1100" i="1" dirty="0" err="1"/>
              <a:t>Cryptococcus</a:t>
            </a:r>
            <a:r>
              <a:rPr lang="pt-BR" sz="1100" dirty="0"/>
              <a:t>, utilizando técnicas modernas de biologia molecular. Além da pesquisa, participou da avaliação da viabilidade e estabilidade de culturas, ministrou cursos sobre preservação e manutenção de microrganismos e contribuiu para a consolidação das coleções biológicas como infraestruturas estratégicas para a ciência, a saúde pública e a inovação tecnológica no Brasil.</a:t>
            </a:r>
          </a:p>
          <a:p>
            <a:r>
              <a:rPr lang="pt-BR" sz="1400" b="1" dirty="0"/>
              <a:t>Legado e inspiração</a:t>
            </a:r>
            <a:endParaRPr lang="pt-BR" sz="1400" dirty="0"/>
          </a:p>
          <a:p>
            <a:pPr marL="180975" indent="0" algn="just">
              <a:buNone/>
            </a:pPr>
            <a:r>
              <a:rPr lang="pt-BR" sz="1100" dirty="0"/>
              <a:t>A carreira de Marília Martins Nishikawa representa a dedicação de décadas à ciência brasileira e à preservação do patrimônio microbiológico nacional. Sua atuação demonstra que as coleções biológicas são muito mais do que acervos: são fontes essenciais de conhecimento, inovação e proteção da saúde pública. Ao formar profissionais, compartilhar conhecimentos e desenvolver pesquisas de relevância internacional, ajudou a fortalecer a micologia médica e a ampliar a capacidade científica brasileira no estudo de fungos de importância clínica e ambiental. Seu trabalho contribuiu para a consolidação das coleções microbiológicas como centros de referência e para a integração entre pesquisa, vigilância sanitária e conservação da biodiversidade. Como mulher cientista, sua trajetória inspira novas gerações de pesquisadoras e pesquisadores, evidenciando o papel fundamental da participação feminina na construção da ciência brasileira e na preservação do patrimônio científico do país.</a:t>
            </a:r>
          </a:p>
          <a:p>
            <a:r>
              <a:rPr lang="pt-BR" sz="1400" b="1" dirty="0"/>
              <a:t>Você sabia?</a:t>
            </a:r>
            <a:endParaRPr lang="pt-BR" sz="1400" dirty="0"/>
          </a:p>
          <a:p>
            <a:pPr marL="180975" indent="0" algn="just">
              <a:buNone/>
            </a:pPr>
            <a:r>
              <a:rPr lang="pt-BR" sz="1100" dirty="0"/>
              <a:t>O doutorado da Dra. Marília foi desenvolvido a partir de fungos preservados na própria CFAS e na Coleção de Fungos Patogênicos (Fiocruz/CFP), demonstrando como as coleções biológicas são verdadeiros laboratórios vivos para a produção de novos conhecimentos científicos.</a:t>
            </a:r>
          </a:p>
          <a:p>
            <a:pPr lvl="0" algn="just"/>
            <a:endParaRPr lang="pt-BR" sz="1100" dirty="0"/>
          </a:p>
          <a:p>
            <a:pPr marL="361950" indent="-180975"/>
            <a:endParaRPr lang="pt-BR" sz="1100" dirty="0"/>
          </a:p>
          <a:p>
            <a:endParaRPr lang="pt-BR" sz="1100" dirty="0"/>
          </a:p>
          <a:p>
            <a:endParaRPr lang="pt-BR" sz="11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58592D-89E1-2DEF-88C6-DEF440A2A522}"/>
              </a:ext>
            </a:extLst>
          </p:cNvPr>
          <p:cNvSpPr txBox="1"/>
          <p:nvPr/>
        </p:nvSpPr>
        <p:spPr>
          <a:xfrm>
            <a:off x="838200" y="1321356"/>
            <a:ext cx="3629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Informações</a:t>
            </a:r>
          </a:p>
        </p:txBody>
      </p:sp>
    </p:spTree>
    <p:extLst>
      <p:ext uri="{BB962C8B-B14F-4D97-AF65-F5344CB8AC3E}">
        <p14:creationId xmlns:p14="http://schemas.microsoft.com/office/powerpoint/2010/main" val="14028605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16204</TotalTime>
  <Words>977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Display de mesa</vt:lpstr>
      <vt:lpstr>Apresentação do PowerPoint</vt:lpstr>
      <vt:lpstr>Apresentação do PowerPoint</vt:lpstr>
      <vt:lpstr>Colecionar é POP: Mulheres que preservam a Ciência nas Coleções Biológicas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Barbara Cristina Euzebio Pereira Dias de Oliveira</dc:creator>
  <cp:lastModifiedBy>Barbara Cristina Euzebio Pereira Dias de Oliveira</cp:lastModifiedBy>
  <cp:revision>13</cp:revision>
  <dcterms:created xsi:type="dcterms:W3CDTF">2026-05-22T11:12:13Z</dcterms:created>
  <dcterms:modified xsi:type="dcterms:W3CDTF">2026-07-03T15:36:50Z</dcterms:modified>
</cp:coreProperties>
</file>
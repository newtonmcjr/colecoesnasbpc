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bara Dias" userId="ba0cd939eb02abdc" providerId="LiveId" clId="{BEE9F3B6-DBB9-4C3D-94FC-6FE192C6A615}"/>
    <pc:docChg chg="delSld">
      <pc:chgData name="Barbara Dias" userId="ba0cd939eb02abdc" providerId="LiveId" clId="{BEE9F3B6-DBB9-4C3D-94FC-6FE192C6A615}" dt="2026-07-03T13:42:09.535" v="0" actId="47"/>
      <pc:docMkLst>
        <pc:docMk/>
      </pc:docMkLst>
      <pc:sldChg chg="del">
        <pc:chgData name="Barbara Dias" userId="ba0cd939eb02abdc" providerId="LiveId" clId="{BEE9F3B6-DBB9-4C3D-94FC-6FE192C6A615}" dt="2026-07-03T13:42:09.535" v="0" actId="47"/>
        <pc:sldMkLst>
          <pc:docMk/>
          <pc:sldMk cId="600583078" sldId="257"/>
        </pc:sldMkLst>
      </pc:sldChg>
      <pc:sldChg chg="del">
        <pc:chgData name="Barbara Dias" userId="ba0cd939eb02abdc" providerId="LiveId" clId="{BEE9F3B6-DBB9-4C3D-94FC-6FE192C6A615}" dt="2026-07-03T13:42:09.535" v="0" actId="47"/>
        <pc:sldMkLst>
          <pc:docMk/>
          <pc:sldMk cId="3263051538" sldId="258"/>
        </pc:sldMkLst>
      </pc:sldChg>
      <pc:sldChg chg="del">
        <pc:chgData name="Barbara Dias" userId="ba0cd939eb02abdc" providerId="LiveId" clId="{BEE9F3B6-DBB9-4C3D-94FC-6FE192C6A615}" dt="2026-07-03T13:42:09.535" v="0" actId="47"/>
        <pc:sldMkLst>
          <pc:docMk/>
          <pc:sldMk cId="894849861" sldId="259"/>
        </pc:sldMkLst>
      </pc:sldChg>
      <pc:sldChg chg="del">
        <pc:chgData name="Barbara Dias" userId="ba0cd939eb02abdc" providerId="LiveId" clId="{BEE9F3B6-DBB9-4C3D-94FC-6FE192C6A615}" dt="2026-07-03T13:42:09.535" v="0" actId="47"/>
        <pc:sldMkLst>
          <pc:docMk/>
          <pc:sldMk cId="3015430609" sldId="260"/>
        </pc:sldMkLst>
      </pc:sldChg>
      <pc:sldChg chg="del">
        <pc:chgData name="Barbara Dias" userId="ba0cd939eb02abdc" providerId="LiveId" clId="{BEE9F3B6-DBB9-4C3D-94FC-6FE192C6A615}" dt="2026-07-03T13:42:09.535" v="0" actId="47"/>
        <pc:sldMkLst>
          <pc:docMk/>
          <pc:sldMk cId="1402860537" sldId="262"/>
        </pc:sldMkLst>
      </pc:sldChg>
      <pc:sldChg chg="del">
        <pc:chgData name="Barbara Dias" userId="ba0cd939eb02abdc" providerId="LiveId" clId="{BEE9F3B6-DBB9-4C3D-94FC-6FE192C6A615}" dt="2026-07-03T13:42:09.535" v="0" actId="47"/>
        <pc:sldMkLst>
          <pc:docMk/>
          <pc:sldMk cId="1646615234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B0EA3-40DF-58BC-FA2A-B5BC5AD25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F4A52D-2AA4-2253-69EF-02975E5FF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3B77F7-3C9D-27C6-66BB-89B0853F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4693C-D58B-ED60-8F05-D0D4AD58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780D75-C1B7-A28E-AA0E-3ECC119D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86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B4355-3862-60BD-4B89-32ECBB5E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0BBC6-1021-C83E-8D83-0B9CB8BD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96338A-6DC6-318B-4F95-2007B0B2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DBD322-7FF1-7856-331D-01EF34FB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5D4A58-94E1-D23C-FFC0-FE36DE1E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34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51916-BB0B-AF73-E5DF-D0764B66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3F1865-B600-BA31-3B8A-CDAD46BC7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0BE7BA-5414-600F-4D20-DB606AB4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C07E09-0576-996F-658C-728609B9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C51A52-DEE0-2F19-EB8B-13AEB3FB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72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9BFE5-FDEE-D77F-C6B3-D40A7E6FE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ECE8D5-1D55-47E2-5E66-FEAA2D21C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63EC54-8BAA-C5F3-2A7F-00FB707D2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23CECB-BF86-2E2C-C2D9-34CE4A89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57AD03-1938-EEF8-8A29-588925D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5C583D-04F9-13B9-A551-076FC852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97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CA604-00BC-94FB-6AA2-000D87F7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CFA1D5-5E49-2A0D-D9D2-59A98BC6E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1DA9E2-7B83-AB46-E3D3-6291E3460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67B4A-877C-127F-2ED6-EC206FEA3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03FFDF-87CD-EE3C-A596-ED4166899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310447-5B1F-778A-EF47-C1D884039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7C2F63-0797-48DD-F119-B53C12C9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56E6E9C-1FEA-AD1C-82F4-83CC9673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67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0E090-ED39-D3C2-964D-37311643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073228-11D9-A212-9100-28712484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4F5B18-DF1C-2585-081E-E5D0103C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765679-B4B1-1514-F7AD-7213ED63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04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42E0E36-B5A8-63F1-D31B-B476EA7A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FD0301-5FBB-4D33-6219-065845010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B5CC5-5ED1-7781-E227-B4029C80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092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F7CC2-DDFA-B45E-7946-FEF6F1D07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03F76-2FB8-9B51-6B71-C784C0039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0A6F88-E0D9-80D2-6C17-3BA956621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0DDFAE-482B-0F90-344D-D8FD2F48C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507E01-1ECD-FDF7-2637-6D0D3A91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977E9E-E84E-908F-B576-AB41C83F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27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99C8A-122B-2EE4-D298-DB353C4D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1E27905-63EC-281D-7610-A5698A1E6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5FB774-75DF-4892-4B8C-9761E1EEF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E315E8-2769-96B5-0C57-3618E332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7D50AA-D228-5A16-B831-B3A81046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56F666-F662-9517-76A2-B46E1FA2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69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45F2B-E904-7E3C-8ABA-3E4D554F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F08696-05C5-4849-6523-66538E9D0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75066-5A34-E65C-99E2-B71ADE10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B2806E-BB5E-B8AF-7B5C-276D689AB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B026E5-95AC-8CF6-C394-3DEA6F06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00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655032-E554-FB2C-4A00-34C1C76A3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123282-85C4-C98D-4792-232662DE4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257B85-4F07-5D13-B5B5-A776FEE6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EBF1CF-1FA2-A988-BCD4-97ABD2B7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BF383D-9F6F-827B-126F-BC03CEA9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165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CFE91D1-48E3-299D-9071-E6597C8D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68837C-781B-5B22-F36F-B8B44DF6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CDFF03-27E0-77A3-E6F1-A73D56A10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60CDF-E3F4-4796-A98F-3636C1556E38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5E4727-3EE9-BF47-1690-6B80FAD65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47874E-A8FA-E392-1B1D-A9FAF4A39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33BAA-B88F-4E21-BC1C-297FB5D95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6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DDC6A6-37A0-801D-7D6F-25399EB79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pt-BR" sz="4000" dirty="0">
                <a:solidFill>
                  <a:schemeClr val="tx2"/>
                </a:solidFill>
              </a:rPr>
              <a:t>Display de mesa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029BD6-88A5-C798-B7A9-24C2B6359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 fontScale="92500" lnSpcReduction="10000"/>
          </a:bodyPr>
          <a:lstStyle/>
          <a:p>
            <a:pPr algn="l"/>
            <a:r>
              <a:rPr lang="pt-BR" sz="1050" dirty="0">
                <a:solidFill>
                  <a:schemeClr val="tx2"/>
                </a:solidFill>
              </a:rPr>
              <a:t>Por trás de cada coleção científica existem mulheres que pesquisaram, preservaram, ensinaram e transformaram conhecimento em legado. Esta homenagem reconhece trajetórias femininas fundamentais para a construção e manutenção das coleções biológicas e para o fortalecimento da ciência e da saúde pública no Brasil. Ao revelar essas histórias, convidamos novas gerações a descobrir que a ciência também é feita de memória, dedicação e inspiração.</a:t>
            </a:r>
          </a:p>
        </p:txBody>
      </p:sp>
      <p:pic>
        <p:nvPicPr>
          <p:cNvPr id="4" name="Picture 2" descr="Logotipo&#10;&#10;Descrição gerada automaticamente com confiança média">
            <a:extLst>
              <a:ext uri="{FF2B5EF4-FFF2-40B4-BE49-F238E27FC236}">
                <a16:creationId xmlns:a16="http://schemas.microsoft.com/office/drawing/2014/main" id="{49775FBF-AB9C-0747-BA05-2C684F0636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0" t="34943" r="12616" b="35670"/>
          <a:stretch>
            <a:fillRect/>
          </a:stretch>
        </p:blipFill>
        <p:spPr bwMode="auto">
          <a:xfrm>
            <a:off x="340470" y="3058754"/>
            <a:ext cx="4141760" cy="1654892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893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23E6-9748-78E3-B09B-A7EE8D67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DA4D946-E35B-9E02-EF75-3C517403BE41}"/>
              </a:ext>
            </a:extLst>
          </p:cNvPr>
          <p:cNvSpPr txBox="1"/>
          <p:nvPr/>
        </p:nvSpPr>
        <p:spPr>
          <a:xfrm>
            <a:off x="601873" y="1590676"/>
            <a:ext cx="5343524" cy="310854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pt-BR" sz="1400" b="1" dirty="0">
                <a:highlight>
                  <a:srgbClr val="FFFF00"/>
                </a:highlight>
              </a:rPr>
              <a:t>Frente (impacto visual)</a:t>
            </a:r>
          </a:p>
          <a:p>
            <a:pPr defTabSz="180975"/>
            <a:endParaRPr lang="pt-BR" sz="1400" dirty="0"/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Foto da homenageada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Nome completo: Graziela Maciel Barroso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Área de atuação: Botânica / Taxonomia e Sistemática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Período de atuação: 1946-2003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•	Frase de destaque (da própria pessoa ou inspirada em sua trajetória)</a:t>
            </a:r>
          </a:p>
          <a:p>
            <a:pPr defTabSz="180975">
              <a:lnSpc>
                <a:spcPct val="150000"/>
              </a:lnSpc>
            </a:pPr>
            <a:r>
              <a:rPr lang="pt-BR" sz="1400" dirty="0"/>
              <a:t> </a:t>
            </a:r>
          </a:p>
          <a:p>
            <a:r>
              <a:rPr lang="pt-BR" sz="1400" dirty="0"/>
              <a:t>“Quando pego uma planta pra estudar é como se fosse um filho que eu visse crescer, ver a morfologia de uma flor, procurar o nome dela, saber como ele vive e cresce, o amor que sinto por aquilo é muito grande.”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2ECC1BF-3AA7-D3DF-710F-4BFAE380F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12107"/>
            <a:ext cx="5980672" cy="398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9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C08A-089E-69EF-A80B-4E15D997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9749C5B-61D6-B1D9-0A25-0246719C30D1}"/>
              </a:ext>
            </a:extLst>
          </p:cNvPr>
          <p:cNvSpPr txBox="1"/>
          <p:nvPr/>
        </p:nvSpPr>
        <p:spPr>
          <a:xfrm>
            <a:off x="618518" y="83085"/>
            <a:ext cx="10395471" cy="544764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pt-BR" sz="1200" b="1" dirty="0">
                <a:highlight>
                  <a:srgbClr val="FFFF00"/>
                </a:highlight>
              </a:rPr>
              <a:t>Verso (informações padronizadas)</a:t>
            </a:r>
          </a:p>
          <a:p>
            <a:endParaRPr lang="pt-BR" sz="1200" b="1" dirty="0">
              <a:highlight>
                <a:srgbClr val="FFFF00"/>
              </a:highlight>
            </a:endParaRPr>
          </a:p>
          <a:p>
            <a:pPr algn="just"/>
            <a:r>
              <a:rPr lang="pt-BR" sz="1200" dirty="0"/>
              <a:t>Para o display, esses blocos  de informação tem que ser curtos e vamos tentar padronizar o tamanho para todas as homenageadas: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b="1" dirty="0"/>
              <a:t>1. Quem foi?</a:t>
            </a:r>
          </a:p>
          <a:p>
            <a:pPr algn="just"/>
            <a:r>
              <a:rPr lang="pt-BR" sz="1200" dirty="0"/>
              <a:t>Graziela Maciel Barroso (1912–2003) foi uma renomada botânica brasileira especialista em taxonomia vegetal. Primeira mulher a passar no concurso para naturalista do Jardim Botânico do Rio de Janeiro, teve também forte cooperação técnico-científica com instituições de pesquisa em saúde pública e meio ambiente, dedicando sua vida ao estudo da flora nacional.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b="1" dirty="0"/>
              <a:t>2. Sua contribuição para as coleções biológicas</a:t>
            </a:r>
          </a:p>
          <a:p>
            <a:pPr algn="just" defTabSz="179388"/>
            <a:r>
              <a:rPr lang="pt-BR" sz="1200" dirty="0"/>
              <a:t>Atuou de forma expressiva na curadoria e organização do Herbário do Jardim Botânico (RB). Liderou expedições científicas por diversos biomas, coletando espécimes e aprimorando técnicas de catalogação, conservação e preservação de exsicatas. Para Fiocruz-CBPM foi determinante na identificação de espécies medicinais de Asteraceae e </a:t>
            </a:r>
            <a:r>
              <a:rPr lang="pt-BR" sz="1200" dirty="0" err="1"/>
              <a:t>Myrtaceae</a:t>
            </a:r>
            <a:r>
              <a:rPr lang="pt-BR" sz="1200" dirty="0"/>
              <a:t>.</a:t>
            </a:r>
          </a:p>
          <a:p>
            <a:pPr algn="just" defTabSz="179388"/>
            <a:endParaRPr lang="pt-BR" sz="1200" dirty="0">
              <a:highlight>
                <a:srgbClr val="FFFF00"/>
              </a:highlight>
            </a:endParaRPr>
          </a:p>
          <a:p>
            <a:pPr algn="just"/>
            <a:r>
              <a:rPr lang="pt-BR" sz="1200" b="1" dirty="0"/>
              <a:t>3. Por que sua trajetória é importante?</a:t>
            </a:r>
          </a:p>
          <a:p>
            <a:pPr algn="just"/>
            <a:r>
              <a:rPr lang="pt-BR" sz="1200" dirty="0"/>
              <a:t>Pioneira e exemplo de superação, ingressou na faculdade aos 47 anos, vencendo as barreiras de um cenário majoritariamente masculino. Consolidou a presença feminina na ciência e formou gerações de novos pesquisadores.</a:t>
            </a:r>
            <a:r>
              <a:rPr lang="en-US" sz="1200" dirty="0"/>
              <a:t> </a:t>
            </a:r>
            <a:r>
              <a:rPr lang="en-US" sz="1200" dirty="0" err="1"/>
              <a:t>Publicou</a:t>
            </a:r>
            <a:r>
              <a:rPr lang="en-US" sz="1200" dirty="0"/>
              <a:t> 65 </a:t>
            </a:r>
            <a:r>
              <a:rPr lang="en-US" sz="1200" dirty="0" err="1"/>
              <a:t>artigos</a:t>
            </a:r>
            <a:r>
              <a:rPr lang="en-US" sz="1200" dirty="0"/>
              <a:t> </a:t>
            </a:r>
            <a:r>
              <a:rPr lang="en-US" sz="1200" dirty="0" err="1"/>
              <a:t>científicos</a:t>
            </a:r>
            <a:r>
              <a:rPr lang="en-US" sz="1200" dirty="0"/>
              <a:t> e </a:t>
            </a:r>
            <a:r>
              <a:rPr lang="en-US" sz="1200" dirty="0" err="1"/>
              <a:t>escreveu</a:t>
            </a:r>
            <a:r>
              <a:rPr lang="en-US" sz="1200" dirty="0"/>
              <a:t> </a:t>
            </a:r>
            <a:r>
              <a:rPr lang="en-US" sz="1200" dirty="0" err="1"/>
              <a:t>livros</a:t>
            </a:r>
            <a:r>
              <a:rPr lang="en-US" sz="1200" dirty="0"/>
              <a:t> </a:t>
            </a:r>
            <a:r>
              <a:rPr lang="en-US" sz="1200" dirty="0" err="1"/>
              <a:t>fundamentais</a:t>
            </a:r>
            <a:r>
              <a:rPr lang="en-US" sz="1200" dirty="0"/>
              <a:t> para </a:t>
            </a:r>
            <a:r>
              <a:rPr lang="en-US" sz="1200" dirty="0" err="1"/>
              <a:t>ensino</a:t>
            </a:r>
            <a:r>
              <a:rPr lang="en-US" sz="1200" dirty="0"/>
              <a:t> e </a:t>
            </a:r>
            <a:r>
              <a:rPr lang="en-US" sz="1200" dirty="0" err="1"/>
              <a:t>pesquisa</a:t>
            </a:r>
            <a:r>
              <a:rPr lang="en-US" sz="1200" dirty="0"/>
              <a:t> de </a:t>
            </a:r>
            <a:r>
              <a:rPr lang="en-US" sz="1200" dirty="0" err="1"/>
              <a:t>sistemática</a:t>
            </a:r>
            <a:r>
              <a:rPr lang="en-US" sz="1200" dirty="0"/>
              <a:t> de </a:t>
            </a:r>
            <a:r>
              <a:rPr lang="en-US" sz="1200" dirty="0" err="1"/>
              <a:t>plantas</a:t>
            </a:r>
            <a:r>
              <a:rPr lang="en-US" sz="1200" dirty="0"/>
              <a:t>. Uma de </a:t>
            </a:r>
            <a:r>
              <a:rPr lang="en-US" sz="1200" dirty="0" err="1"/>
              <a:t>suas</a:t>
            </a:r>
            <a:r>
              <a:rPr lang="en-US" sz="1200" dirty="0"/>
              <a:t> </a:t>
            </a:r>
            <a:r>
              <a:rPr lang="en-US" sz="1200" dirty="0" err="1"/>
              <a:t>obras</a:t>
            </a:r>
            <a:r>
              <a:rPr lang="en-US" sz="1200" dirty="0"/>
              <a:t>, </a:t>
            </a:r>
            <a:r>
              <a:rPr lang="en-US" sz="1200" i="1" dirty="0" err="1"/>
              <a:t>Sistemática</a:t>
            </a:r>
            <a:r>
              <a:rPr lang="en-US" sz="1200" i="1" dirty="0"/>
              <a:t> de </a:t>
            </a:r>
            <a:r>
              <a:rPr lang="en-US" sz="1200" i="1" dirty="0" err="1"/>
              <a:t>Angiospermas</a:t>
            </a:r>
            <a:r>
              <a:rPr lang="en-US" sz="1200" i="1" dirty="0"/>
              <a:t> do </a:t>
            </a:r>
            <a:r>
              <a:rPr lang="en-US" sz="1200" i="1" dirty="0" err="1"/>
              <a:t>Brasil</a:t>
            </a:r>
            <a:r>
              <a:rPr lang="en-US" sz="1200" i="1" dirty="0"/>
              <a:t> </a:t>
            </a:r>
            <a:r>
              <a:rPr lang="en-US" sz="1200" dirty="0" err="1"/>
              <a:t>tornou</a:t>
            </a:r>
            <a:r>
              <a:rPr lang="en-US" sz="1200" dirty="0"/>
              <a:t>-se </a:t>
            </a:r>
            <a:r>
              <a:rPr lang="en-US" sz="1200" dirty="0" err="1"/>
              <a:t>referência</a:t>
            </a:r>
            <a:r>
              <a:rPr lang="en-US" sz="1200" dirty="0"/>
              <a:t> </a:t>
            </a:r>
            <a:r>
              <a:rPr lang="en-US" sz="1200" dirty="0" err="1"/>
              <a:t>internacional</a:t>
            </a:r>
            <a:r>
              <a:rPr lang="en-US" sz="1200" dirty="0"/>
              <a:t>. </a:t>
            </a:r>
            <a:r>
              <a:rPr lang="en-US" sz="1200" dirty="0" err="1"/>
              <a:t>Os</a:t>
            </a:r>
            <a:r>
              <a:rPr lang="en-US" sz="1200" dirty="0"/>
              <a:t> </a:t>
            </a:r>
            <a:r>
              <a:rPr lang="en-US" sz="1200" dirty="0" err="1"/>
              <a:t>herbários</a:t>
            </a:r>
            <a:r>
              <a:rPr lang="en-US" sz="1200" dirty="0"/>
              <a:t> para </a:t>
            </a:r>
            <a:r>
              <a:rPr lang="en-US" sz="1200" dirty="0" err="1"/>
              <a:t>os</a:t>
            </a:r>
            <a:r>
              <a:rPr lang="en-US" sz="1200" dirty="0"/>
              <a:t> quais </a:t>
            </a:r>
            <a:r>
              <a:rPr lang="en-US" sz="1200" dirty="0" err="1"/>
              <a:t>identificou</a:t>
            </a:r>
            <a:r>
              <a:rPr lang="en-US" sz="1200" dirty="0"/>
              <a:t> </a:t>
            </a:r>
            <a:r>
              <a:rPr lang="en-US" sz="1200" dirty="0" err="1"/>
              <a:t>plantas</a:t>
            </a:r>
            <a:r>
              <a:rPr lang="en-US" sz="1200" dirty="0"/>
              <a:t> </a:t>
            </a:r>
            <a:r>
              <a:rPr lang="en-US" sz="1200" dirty="0" err="1"/>
              <a:t>ajudaram</a:t>
            </a:r>
            <a:r>
              <a:rPr lang="en-US" sz="1200" dirty="0"/>
              <a:t> a </a:t>
            </a:r>
            <a:r>
              <a:rPr lang="en-US" sz="1200" dirty="0" err="1"/>
              <a:t>mapear</a:t>
            </a:r>
            <a:r>
              <a:rPr lang="en-US" sz="1200" dirty="0"/>
              <a:t> </a:t>
            </a:r>
            <a:r>
              <a:rPr lang="en-US" sz="1200" dirty="0" err="1"/>
              <a:t>espécies</a:t>
            </a:r>
            <a:r>
              <a:rPr lang="en-US" sz="1200" dirty="0"/>
              <a:t> </a:t>
            </a:r>
            <a:r>
              <a:rPr lang="en-US" sz="1200" dirty="0" err="1"/>
              <a:t>ameaçadas</a:t>
            </a:r>
            <a:r>
              <a:rPr lang="en-US" sz="1200" dirty="0"/>
              <a:t> de </a:t>
            </a:r>
            <a:r>
              <a:rPr lang="en-US" sz="1200" dirty="0" err="1"/>
              <a:t>extinção</a:t>
            </a:r>
            <a:r>
              <a:rPr lang="en-US" sz="1200" dirty="0"/>
              <a:t> e a </a:t>
            </a:r>
            <a:r>
              <a:rPr lang="en-US" sz="1200" dirty="0" err="1"/>
              <a:t>preservar</a:t>
            </a:r>
            <a:r>
              <a:rPr lang="en-US" sz="1200" dirty="0"/>
              <a:t> as </a:t>
            </a:r>
            <a:r>
              <a:rPr lang="en-US" sz="1200" dirty="0" err="1"/>
              <a:t>áreas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que</a:t>
            </a:r>
            <a:r>
              <a:rPr lang="en-US" sz="1200" dirty="0"/>
              <a:t> se </a:t>
            </a:r>
            <a:r>
              <a:rPr lang="en-US" sz="1200" dirty="0" err="1"/>
              <a:t>encontravam</a:t>
            </a:r>
            <a:r>
              <a:rPr lang="en-US" sz="1200" dirty="0"/>
              <a:t>.</a:t>
            </a:r>
            <a:endParaRPr lang="pt-BR" sz="1200" dirty="0"/>
          </a:p>
          <a:p>
            <a:pPr algn="just"/>
            <a:endParaRPr lang="pt-BR" sz="1200" dirty="0"/>
          </a:p>
          <a:p>
            <a:pPr algn="just"/>
            <a:r>
              <a:rPr lang="pt-BR" sz="1200" b="1" dirty="0"/>
              <a:t>4. Curiosidade ou legado</a:t>
            </a:r>
          </a:p>
          <a:p>
            <a:pPr algn="just"/>
            <a:r>
              <a:rPr lang="pt-BR" sz="1200" dirty="0"/>
              <a:t>Foi a primeira mulher a ingressar na Academia Brasileira de Ciências na categoria de Ciências Biológicas e teve mais de 25 espécies batizadas em sua homenagem. Foi a única brasileira a receber a </a:t>
            </a:r>
            <a:r>
              <a:rPr lang="pt-BR" sz="1200" i="1" dirty="0"/>
              <a:t>Medalha de Ouro Crane</a:t>
            </a:r>
            <a:r>
              <a:rPr lang="pt-BR" sz="1200" dirty="0"/>
              <a:t>, concedida pelo Jardim Botânico de Chicago (EUA), um prêmio internacional voltado a grandes conservacionistas do mundo.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b="1" dirty="0"/>
              <a:t>5. Mensagem inspiradora ao visitante</a:t>
            </a:r>
          </a:p>
          <a:p>
            <a:pPr algn="just"/>
            <a:r>
              <a:rPr lang="en-US" sz="1200" dirty="0"/>
              <a:t>"Para a </a:t>
            </a:r>
            <a:r>
              <a:rPr lang="en-US" sz="1200" dirty="0" err="1"/>
              <a:t>ciência</a:t>
            </a:r>
            <a:r>
              <a:rPr lang="en-US" sz="1200" dirty="0"/>
              <a:t> e para </a:t>
            </a:r>
            <a:r>
              <a:rPr lang="en-US" sz="1200" dirty="0" err="1"/>
              <a:t>os</a:t>
            </a:r>
            <a:r>
              <a:rPr lang="en-US" sz="1200" dirty="0"/>
              <a:t> </a:t>
            </a:r>
            <a:r>
              <a:rPr lang="en-US" sz="1200" dirty="0" err="1"/>
              <a:t>nossos</a:t>
            </a:r>
            <a:r>
              <a:rPr lang="en-US" sz="1200" dirty="0"/>
              <a:t> </a:t>
            </a:r>
            <a:r>
              <a:rPr lang="en-US" sz="1200" dirty="0" err="1"/>
              <a:t>sonhos</a:t>
            </a:r>
            <a:r>
              <a:rPr lang="en-US" sz="1200" dirty="0"/>
              <a:t>, </a:t>
            </a:r>
            <a:r>
              <a:rPr lang="en-US" sz="1200" dirty="0" err="1"/>
              <a:t>nunca</a:t>
            </a:r>
            <a:r>
              <a:rPr lang="en-US" sz="1200" dirty="0"/>
              <a:t> é </a:t>
            </a:r>
            <a:r>
              <a:rPr lang="en-US" sz="1200" dirty="0" err="1"/>
              <a:t>tarde</a:t>
            </a:r>
            <a:r>
              <a:rPr lang="en-US" sz="1200" dirty="0"/>
              <a:t> </a:t>
            </a:r>
            <a:r>
              <a:rPr lang="en-US" sz="1200" dirty="0" err="1"/>
              <a:t>demais</a:t>
            </a:r>
            <a:r>
              <a:rPr lang="en-US" sz="1200" dirty="0"/>
              <a:t> para </a:t>
            </a:r>
            <a:r>
              <a:rPr lang="en-US" sz="1200" dirty="0" err="1"/>
              <a:t>florescer</a:t>
            </a:r>
            <a:r>
              <a:rPr lang="en-US" sz="1200" dirty="0"/>
              <a:t>. Com a </a:t>
            </a:r>
            <a:r>
              <a:rPr lang="en-US" sz="1200" dirty="0" err="1"/>
              <a:t>força</a:t>
            </a:r>
            <a:r>
              <a:rPr lang="en-US" sz="1200" dirty="0"/>
              <a:t> de quem </a:t>
            </a:r>
            <a:r>
              <a:rPr lang="en-US" sz="1200" dirty="0" err="1"/>
              <a:t>lança</a:t>
            </a:r>
            <a:r>
              <a:rPr lang="en-US" sz="1200" dirty="0"/>
              <a:t> </a:t>
            </a:r>
            <a:r>
              <a:rPr lang="en-US" sz="1200" dirty="0" err="1"/>
              <a:t>raízes</a:t>
            </a:r>
            <a:r>
              <a:rPr lang="en-US" sz="1200" dirty="0"/>
              <a:t> </a:t>
            </a:r>
            <a:r>
              <a:rPr lang="en-US" sz="1200" dirty="0" err="1"/>
              <a:t>profundas</a:t>
            </a:r>
            <a:r>
              <a:rPr lang="en-US" sz="1200" dirty="0"/>
              <a:t> e a </a:t>
            </a:r>
            <a:r>
              <a:rPr lang="en-US" sz="1200" dirty="0" err="1"/>
              <a:t>coragem</a:t>
            </a:r>
            <a:r>
              <a:rPr lang="en-US" sz="1200" dirty="0"/>
              <a:t> de </a:t>
            </a:r>
            <a:r>
              <a:rPr lang="en-US" sz="1200" dirty="0" err="1"/>
              <a:t>desbravar</a:t>
            </a:r>
            <a:r>
              <a:rPr lang="en-US" sz="1200" dirty="0"/>
              <a:t> o </a:t>
            </a:r>
            <a:r>
              <a:rPr lang="en-US" sz="1200" dirty="0" err="1"/>
              <a:t>desconhecido</a:t>
            </a:r>
            <a:r>
              <a:rPr lang="en-US" sz="1200" dirty="0"/>
              <a:t>, </a:t>
            </a:r>
            <a:r>
              <a:rPr lang="en-US" sz="1200" dirty="0" err="1"/>
              <a:t>cada</a:t>
            </a:r>
            <a:r>
              <a:rPr lang="en-US" sz="1200" dirty="0"/>
              <a:t> </a:t>
            </a:r>
            <a:r>
              <a:rPr lang="en-US" sz="1200" dirty="0" err="1"/>
              <a:t>mulher</a:t>
            </a:r>
            <a:r>
              <a:rPr lang="en-US" sz="1200" dirty="0"/>
              <a:t> </a:t>
            </a:r>
            <a:r>
              <a:rPr lang="en-US" sz="1200" dirty="0" err="1"/>
              <a:t>cientista</a:t>
            </a:r>
            <a:r>
              <a:rPr lang="en-US" sz="1200" dirty="0"/>
              <a:t> </a:t>
            </a:r>
            <a:r>
              <a:rPr lang="en-US" sz="1200" dirty="0" err="1"/>
              <a:t>deixa</a:t>
            </a:r>
            <a:r>
              <a:rPr lang="en-US" sz="1200" dirty="0"/>
              <a:t> </a:t>
            </a:r>
            <a:r>
              <a:rPr lang="en-US" sz="1200" dirty="0" err="1"/>
              <a:t>sua</a:t>
            </a:r>
            <a:r>
              <a:rPr lang="en-US" sz="1200" dirty="0"/>
              <a:t> </a:t>
            </a:r>
            <a:r>
              <a:rPr lang="en-US" sz="1200" dirty="0" err="1"/>
              <a:t>marca</a:t>
            </a:r>
            <a:r>
              <a:rPr lang="en-US" sz="1200" dirty="0"/>
              <a:t> </a:t>
            </a:r>
            <a:r>
              <a:rPr lang="en-US" sz="1200" dirty="0" err="1"/>
              <a:t>eterna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descoberta</a:t>
            </a:r>
            <a:r>
              <a:rPr lang="en-US" sz="1200" dirty="0"/>
              <a:t> de um </a:t>
            </a:r>
            <a:r>
              <a:rPr lang="en-US" sz="1200" dirty="0" err="1"/>
              <a:t>mundo</a:t>
            </a:r>
            <a:r>
              <a:rPr lang="en-US" sz="1200" dirty="0"/>
              <a:t> novo."</a:t>
            </a:r>
            <a:endParaRPr lang="pt-BR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000714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536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Display de mesa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Barbara Cristina Euzebio Pereira Dias de Oliveira</dc:creator>
  <cp:lastModifiedBy>Barbara Cristina Euzebio Pereira Dias de Oliveira</cp:lastModifiedBy>
  <cp:revision>5</cp:revision>
  <dcterms:created xsi:type="dcterms:W3CDTF">2026-05-22T11:12:13Z</dcterms:created>
  <dcterms:modified xsi:type="dcterms:W3CDTF">2026-07-03T13:42:18Z</dcterms:modified>
</cp:coreProperties>
</file>